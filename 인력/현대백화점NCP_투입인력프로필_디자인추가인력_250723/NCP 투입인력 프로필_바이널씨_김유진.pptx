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41" r:id="rId2"/>
    <p:sldId id="3342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74"/>
  </p:normalViewPr>
  <p:slideViewPr>
    <p:cSldViewPr snapToGrid="0" showGuides="1">
      <p:cViewPr varScale="1">
        <p:scale>
          <a:sx n="124" d="100"/>
          <a:sy n="124" d="100"/>
        </p:scale>
        <p:origin x="560" y="168"/>
      </p:cViewPr>
      <p:guideLst>
        <p:guide orient="horz" pos="279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4DFAB8-CE70-B447-B1BB-276BD12B6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6862B6-E639-3975-819B-9CAB12272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D816B7-2867-3379-C51A-F8BBC1B07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944B8-7506-398B-1DB2-009C31A6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EAF5A-D229-F048-8E1D-52F81615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09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572F3-E736-14F1-7D01-A258568C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5218C-3E44-8452-9852-BE97634C4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B20783-EB93-1BD9-A105-BDF0AFCD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2E7655-7703-C81D-02DF-D57DE032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8003D0-0FD6-BF3C-10CF-2971F50F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74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BF63C-FFCE-7FF6-DF74-5872C3FF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E97ADE-CFAF-F98A-4DAE-8AE783440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08FC8D-7030-E2E7-3660-ED95D4A0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6DDC3-031E-84BB-E081-BDDBE39C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785E0F-4C62-13D1-F5BF-9E4CF7843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275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1E8BA-BC84-570C-2B2C-DB5C6788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A20740-D9CE-2322-C753-9CB4B411A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E56BC1-9F57-1BAE-3C01-960A4A42D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0DAFFC-7C38-A0BA-342E-779D8124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695D71-116C-8431-BF44-2971B0FA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AE769E-1E4E-29C4-153E-48758E80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05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07DD1-0E47-620E-3DF4-65F042C61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F26508-588D-6283-DEE0-5B2805ED6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32064A-2E89-D93E-EA60-3578F1C24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449845-8DB0-3E85-7024-4770010E6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661F0E-3C05-B8E9-43BE-BE3732D79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32CF6F-7C12-D08F-BA0D-CB43B4A4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681EEA-89F9-026D-13DC-802CE335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61393F-7394-DAB0-00D0-5B9DF793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1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D2155-0154-C5AD-8332-8B2F2C718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77E52B-56F5-D112-4BEF-DE124D43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E416D3-9945-6D50-DF64-C85A47A0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5E4959-DA6D-B523-70BB-3E1BE8AE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814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B90621-9B40-EB17-72B9-F831656B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701A1D-4C83-D725-0F3A-63C30CD6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658E1E-E7D1-B95A-AE93-BB073B03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49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4E4D1-0CEA-0C7B-4C62-851C7B4CB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268ED-7666-D48E-721C-E584F509E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B97746-55FB-BA3B-1BB3-19FF0F3E8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6196B1-D6B0-FEFC-0921-DC94F5615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893148-7AC7-6808-9A3F-9AFA8292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6114EA-86AD-5964-0CA2-B2327AF5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896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78295-FF9A-0D4A-B0A6-A8AFA294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0AF68E8-3ACA-21F2-8A5D-9A4003210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257DAF-E000-8662-C5A1-8637A7EC0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8D9664-13D8-7673-19B1-82833ADD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B8C59-CC05-B452-1376-1A5AC7838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8A35F7-4AE8-D8B0-35BE-18218B62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922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96B33-878E-9572-6D95-7295779A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3EFC30-6008-16E0-E2F8-02DE9CFF4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2F4E0-A047-F6BC-4112-36ACE111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0CC97A-FF9F-D54E-AA16-B5173C2A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C56A4C-DBA8-5166-DC53-9FFC36B4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5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D83459-3C3D-4BC6-F49B-38887CBED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528A1-7A38-03D1-DDD4-E98F62799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850F4-5490-357D-76C0-BA701365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1B0541-0455-0071-187C-8E60802EB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8A932-0577-8179-AE09-D0954EF7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408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1AC4-89AF-429C-A30F-C6DFB54DE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71732" y="6488389"/>
            <a:ext cx="448537" cy="127973"/>
          </a:xfrm>
          <a:prstGeom prst="rect">
            <a:avLst/>
          </a:prstGeom>
        </p:spPr>
        <p:txBody>
          <a:bodyPr anchor="ctr" anchorCtr="0"/>
          <a:lstStyle>
            <a:lvl1pPr marL="0" algn="ctr" defTabSz="457200" rtl="0" eaLnBrk="1" latinLnBrk="0" hangingPunct="1">
              <a:defRPr lang="ko-KR" altLang="en-US" sz="800" kern="1200" spc="-3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60584C"/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  <a:cs typeface="+mn-cs"/>
              </a:defRPr>
            </a:lvl1pPr>
          </a:lstStyle>
          <a:p>
            <a:fld id="{FA5743CE-1743-4712-98FC-67DEBCFF6EF5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D84D02E-171B-B973-0E8D-0F04B52C9ACA}"/>
              </a:ext>
            </a:extLst>
          </p:cNvPr>
          <p:cNvGrpSpPr/>
          <p:nvPr userDrawn="1"/>
        </p:nvGrpSpPr>
        <p:grpSpPr>
          <a:xfrm>
            <a:off x="426918" y="1"/>
            <a:ext cx="391527" cy="894505"/>
            <a:chOff x="349251" y="-57102"/>
            <a:chExt cx="318117" cy="894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B40193D-E9BA-0FE4-8B6F-C800F443B8DB}"/>
                </a:ext>
              </a:extLst>
            </p:cNvPr>
            <p:cNvSpPr/>
            <p:nvPr/>
          </p:nvSpPr>
          <p:spPr>
            <a:xfrm>
              <a:off x="349251" y="-57102"/>
              <a:ext cx="318116" cy="781050"/>
            </a:xfrm>
            <a:prstGeom prst="rect">
              <a:avLst/>
            </a:prstGeom>
            <a:solidFill>
              <a:srgbClr val="0552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8" name="직각 삼각형 67">
              <a:extLst>
                <a:ext uri="{FF2B5EF4-FFF2-40B4-BE49-F238E27FC236}">
                  <a16:creationId xmlns:a16="http://schemas.microsoft.com/office/drawing/2014/main" id="{827D7B32-43B5-C770-28B6-17AA1A2DBE83}"/>
                </a:ext>
              </a:extLst>
            </p:cNvPr>
            <p:cNvSpPr/>
            <p:nvPr/>
          </p:nvSpPr>
          <p:spPr>
            <a:xfrm rot="5400000">
              <a:off x="371845" y="699836"/>
              <a:ext cx="114973" cy="160160"/>
            </a:xfrm>
            <a:prstGeom prst="rtTriangle">
              <a:avLst/>
            </a:prstGeom>
            <a:solidFill>
              <a:srgbClr val="0552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9" name="직각 삼각형 68">
              <a:extLst>
                <a:ext uri="{FF2B5EF4-FFF2-40B4-BE49-F238E27FC236}">
                  <a16:creationId xmlns:a16="http://schemas.microsoft.com/office/drawing/2014/main" id="{A2722DEA-EE75-4FD6-5107-831F5F874981}"/>
                </a:ext>
              </a:extLst>
            </p:cNvPr>
            <p:cNvSpPr/>
            <p:nvPr/>
          </p:nvSpPr>
          <p:spPr>
            <a:xfrm rot="16200000" flipH="1">
              <a:off x="529802" y="699837"/>
              <a:ext cx="114972" cy="160160"/>
            </a:xfrm>
            <a:prstGeom prst="rtTriangle">
              <a:avLst/>
            </a:prstGeom>
            <a:solidFill>
              <a:srgbClr val="05523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3401C8D-95F0-F1CC-1401-3ADEA149613B}"/>
              </a:ext>
            </a:extLst>
          </p:cNvPr>
          <p:cNvSpPr txBox="1"/>
          <p:nvPr userDrawn="1"/>
        </p:nvSpPr>
        <p:spPr bwMode="gray">
          <a:xfrm>
            <a:off x="423985" y="6493251"/>
            <a:ext cx="1886434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marR="0" lvl="0" indent="0" defTabSz="10430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</a:rPr>
              <a:t>현대백화점 </a:t>
            </a:r>
            <a:r>
              <a:rPr kumimoji="0" lang="en-US" altLang="ko-KR" sz="800" b="0" i="0" u="none" strike="noStrike" kern="1200" cap="none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현대산스 Text OTF" panose="020B0600000101010101" pitchFamily="34" charset="-127"/>
                <a:ea typeface="현대산스 Text OTF" panose="020B0600000101010101" pitchFamily="34" charset="-127"/>
              </a:rPr>
              <a:t>NEW </a:t>
            </a:r>
            <a:r>
              <a:rPr kumimoji="0" lang="ko-KR" altLang="en-US" sz="800" b="0" i="0" u="none" strike="noStrike" kern="1200" cap="none" normalizeH="0" baseline="0" noProof="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현대산스 Text OTF" panose="020B0600000101010101" pitchFamily="34" charset="-127"/>
                <a:ea typeface="현대산스 Text OTF" panose="020B0600000101010101" pitchFamily="34" charset="-127"/>
              </a:rPr>
              <a:t>커머스 플랫폼 구축</a:t>
            </a:r>
          </a:p>
        </p:txBody>
      </p:sp>
      <p:pic>
        <p:nvPicPr>
          <p:cNvPr id="76" name="그림 75" descr="클립아트이(가) 표시된 사진&#10;&#10;높은 신뢰도로 생성된 설명">
            <a:extLst>
              <a:ext uri="{FF2B5EF4-FFF2-40B4-BE49-F238E27FC236}">
                <a16:creationId xmlns:a16="http://schemas.microsoft.com/office/drawing/2014/main" id="{2BEE3CFB-0A6E-5A12-EA75-CE6F43C135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845" y="6493251"/>
            <a:ext cx="434170" cy="14326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CB0C543-62B8-2D3E-D223-F3A1280453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15179" y="350773"/>
            <a:ext cx="615008" cy="8820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103E2D6-E11C-4B3A-4715-C2468B4DD8DF}"/>
              </a:ext>
            </a:extLst>
          </p:cNvPr>
          <p:cNvSpPr txBox="1"/>
          <p:nvPr userDrawn="1"/>
        </p:nvSpPr>
        <p:spPr bwMode="gray">
          <a:xfrm>
            <a:off x="10345932" y="190240"/>
            <a:ext cx="1548000" cy="18466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defTabSz="1043076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</a:defRPr>
            </a:lvl1pPr>
          </a:lstStyle>
          <a:p>
            <a:pPr lvl="0"/>
            <a:r>
              <a:rPr lang="en-US" altLang="ko-KR" sz="1200" dirty="0"/>
              <a:t>NEW </a:t>
            </a:r>
            <a:r>
              <a:rPr lang="ko-KR" altLang="en-US" sz="1200" dirty="0"/>
              <a:t>커머스 플랫폼 구축</a:t>
            </a:r>
            <a:endParaRPr lang="ko-KR" alt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1343848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A870F8-A0EF-8D70-D4AC-1887F53E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8F144-F94B-2867-0A44-AF8CA0603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30C9FE-C6FE-89AC-9F5D-4149569CB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A4C12-A83B-4415-AF37-0228EF2CA504}" type="datetimeFigureOut">
              <a:rPr lang="ko-KR" altLang="en-US" smtClean="0"/>
              <a:t>2025. 7. 23.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C9AE0-DA0C-CDC4-6710-89D842E83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F1FB9-33B0-7BF1-ABCE-221CBDD43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10F68-F074-46FD-912D-0B7477789A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1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63C12BB-809A-8B2B-C995-A3E388D8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5743CE-1743-4712-98FC-67DEBCFF6EF5}" type="slidenum">
              <a:rPr lang="en-US" altLang="ko-KR" smtClean="0"/>
              <a:pPr/>
              <a:t>1</a:t>
            </a:fld>
            <a:endParaRPr 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210C714-0AD9-6DAF-F4C1-E099FF6C69C5}"/>
              </a:ext>
            </a:extLst>
          </p:cNvPr>
          <p:cNvGrpSpPr/>
          <p:nvPr/>
        </p:nvGrpSpPr>
        <p:grpSpPr>
          <a:xfrm>
            <a:off x="1477466" y="412262"/>
            <a:ext cx="6131811" cy="478616"/>
            <a:chOff x="344488" y="928693"/>
            <a:chExt cx="6131811" cy="4786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C55F23-1E86-06DA-1A0E-7FA0941BF5E5}"/>
                </a:ext>
              </a:extLst>
            </p:cNvPr>
            <p:cNvSpPr txBox="1"/>
            <p:nvPr/>
          </p:nvSpPr>
          <p:spPr bwMode="gray">
            <a:xfrm>
              <a:off x="344488" y="1161088"/>
              <a:ext cx="6059803" cy="24622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defTabSz="1043076" latinLnBrk="0">
                <a:defRPr/>
              </a:pPr>
              <a:r>
                <a:rPr lang="en-US" altLang="ko-KR" sz="1600" spc="-1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현대산스 Text OTF Bold" panose="020B0600000101010101" pitchFamily="34" charset="-127"/>
                  <a:ea typeface="현대산스 Text OTF Bold" panose="020B0600000101010101" pitchFamily="34" charset="-127"/>
                </a:rPr>
                <a:t>NCP </a:t>
              </a:r>
              <a:r>
                <a:rPr lang="ko-KR" altLang="en-US" sz="1600" spc="-1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현대산스 Text OTF Bold" panose="020B0600000101010101" pitchFamily="34" charset="-127"/>
                  <a:ea typeface="현대산스 Text OTF Bold" panose="020B0600000101010101" pitchFamily="34" charset="-127"/>
                </a:rPr>
                <a:t>투입 인력 프로필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18635B-2C84-0D18-C4D2-37395391B493}"/>
                </a:ext>
              </a:extLst>
            </p:cNvPr>
            <p:cNvSpPr txBox="1"/>
            <p:nvPr/>
          </p:nvSpPr>
          <p:spPr bwMode="gray">
            <a:xfrm>
              <a:off x="344488" y="928693"/>
              <a:ext cx="6131811" cy="153888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defTabSz="1043076" latinLnBrk="0">
                <a:defRPr/>
              </a:pPr>
              <a:endParaRPr lang="ko-KR" altLang="en-US" sz="1000" spc="-1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</a:endParaRP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4D0C38E-37C9-74AF-879C-99A34F2DB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082300"/>
              </p:ext>
            </p:extLst>
          </p:nvPr>
        </p:nvGraphicFramePr>
        <p:xfrm>
          <a:off x="1487488" y="1541685"/>
          <a:ext cx="9222736" cy="2059884"/>
        </p:xfrm>
        <a:graphic>
          <a:graphicData uri="http://schemas.openxmlformats.org/drawingml/2006/table">
            <a:tbl>
              <a:tblPr firstRow="1" bandRow="1">
                <a:solidFill>
                  <a:srgbClr val="FFFFFF"/>
                </a:solidFill>
                <a:tableStyleId>{2D5ABB26-0587-4C30-8999-92F81FD0307C}</a:tableStyleId>
              </a:tblPr>
              <a:tblGrid>
                <a:gridCol w="133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3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3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741">
                <a:tc gridSpan="5">
                  <a:txBody>
                    <a:bodyPr/>
                    <a:lstStyle/>
                    <a:p>
                      <a:pPr marL="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tabLst>
                          <a:tab pos="273050" algn="l"/>
                        </a:tabLst>
                        <a:defRPr/>
                      </a:pPr>
                      <a:r>
                        <a:rPr lang="en-US" altLang="ko-KR" sz="12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1. </a:t>
                      </a:r>
                      <a:r>
                        <a:rPr lang="ko-KR" altLang="en-US" sz="12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인적 사항</a:t>
                      </a: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52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B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인적</a:t>
                      </a: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성명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직위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성별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생년월일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21">
                <a:tc vMerge="1">
                  <a:txBody>
                    <a:bodyPr/>
                    <a:lstStyle/>
                    <a:p>
                      <a:pPr marL="0" algn="ctr" defTabSz="914217" rtl="0" eaLnBrk="1" latinLnBrk="1" hangingPunct="1"/>
                      <a:endParaRPr lang="ko-KR" altLang="en-US" sz="1100" b="1" kern="1200" dirty="0">
                        <a:solidFill>
                          <a:schemeClr val="tx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김유진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디자이너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1998.04.27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31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자격증</a:t>
                      </a: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종목 및 등급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취득일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기술등급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경력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초급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3.5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algn="ctr" defTabSz="914217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217" rtl="0" eaLnBrk="1" latinLnBrk="1" hangingPunct="1"/>
                      <a:endParaRPr lang="ko-KR" altLang="en-US" sz="1100" b="0" kern="120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3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학력</a:t>
                      </a:r>
                      <a:endParaRPr lang="en-US" altLang="ko-KR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최종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학 교 명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졸업년월</a:t>
                      </a:r>
                      <a:endParaRPr lang="ko-KR" altLang="en-US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전공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학위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상주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비상주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52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서울과학기술대학교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2016.03.14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문화예술학과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상주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2A7673F-669C-8D2C-A52E-7B5C51B68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985680"/>
              </p:ext>
            </p:extLst>
          </p:nvPr>
        </p:nvGraphicFramePr>
        <p:xfrm>
          <a:off x="1487488" y="3969060"/>
          <a:ext cx="9222736" cy="2376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1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0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200" b="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262626"/>
                          </a:solidFill>
                          <a:effectLst/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</a:rPr>
                        <a:t>2. </a:t>
                      </a:r>
                      <a:r>
                        <a:rPr kumimoji="1" lang="ko-KR" altLang="en-US" sz="1200" b="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262626"/>
                          </a:solidFill>
                          <a:effectLst/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</a:rPr>
                        <a:t>경력 사항</a:t>
                      </a:r>
                      <a:endParaRPr kumimoji="1" lang="ko-KR" altLang="en-US" sz="1200" b="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62626"/>
                        </a:solidFill>
                        <a:effectLst/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>
                      <a:noFill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52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B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1200" cap="none" spc="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262626"/>
                          </a:solidFill>
                          <a:effectLst/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</a:rPr>
                        <a:t>재직처</a:t>
                      </a:r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62626"/>
                        </a:solidFill>
                        <a:effectLst/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재직기간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년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월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)</a:t>
                      </a:r>
                      <a:endParaRPr lang="ko-KR" altLang="en-US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담당업무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비고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바이널씨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2025.07 ~ 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현재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UI/UX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더크림유니언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2024.04 ~ 2025.06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UI/UX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디바흐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2022.03 ~ 2024.03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UI/UX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세븐헌드레드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2022.01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2022.02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UI/UX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49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주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)</a:t>
                      </a: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비비지네트웍스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2021.09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2021.10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UI/UX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디자인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rgbClr val="FF0000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7A922617-85BE-73BA-3373-8A77C8D49C39}"/>
              </a:ext>
            </a:extLst>
          </p:cNvPr>
          <p:cNvGrpSpPr/>
          <p:nvPr/>
        </p:nvGrpSpPr>
        <p:grpSpPr>
          <a:xfrm>
            <a:off x="1491300" y="1113269"/>
            <a:ext cx="9223938" cy="256810"/>
            <a:chOff x="348300" y="1566113"/>
            <a:chExt cx="9223938" cy="256810"/>
          </a:xfrm>
        </p:grpSpPr>
        <p:sp>
          <p:nvSpPr>
            <p:cNvPr id="26" name="모서리가 둥근 직사각형 67">
              <a:extLst>
                <a:ext uri="{FF2B5EF4-FFF2-40B4-BE49-F238E27FC236}">
                  <a16:creationId xmlns:a16="http://schemas.microsoft.com/office/drawing/2014/main" id="{9223BF70-1872-83A8-F744-3FAE04DD9586}"/>
                </a:ext>
              </a:extLst>
            </p:cNvPr>
            <p:cNvSpPr/>
            <p:nvPr/>
          </p:nvSpPr>
          <p:spPr>
            <a:xfrm>
              <a:off x="348300" y="1568518"/>
              <a:ext cx="9223938" cy="252000"/>
            </a:xfrm>
            <a:prstGeom prst="roundRect">
              <a:avLst>
                <a:gd name="adj" fmla="val 50000"/>
              </a:avLst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6FAEC0-12F4-A0F3-3780-D04F9D79469C}"/>
                </a:ext>
              </a:extLst>
            </p:cNvPr>
            <p:cNvSpPr txBox="1"/>
            <p:nvPr/>
          </p:nvSpPr>
          <p:spPr>
            <a:xfrm>
              <a:off x="679806" y="1602185"/>
              <a:ext cx="2766821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atinLnBrk="0">
                <a:spcAft>
                  <a:spcPts val="300"/>
                </a:spcAft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ROLE -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김유진 </a:t>
              </a: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(1/2)</a:t>
              </a:r>
            </a:p>
          </p:txBody>
        </p:sp>
        <p:pic>
          <p:nvPicPr>
            <p:cNvPr id="28" name="그림 27" descr="상징, 원, 그래픽, 로고이(가) 표시된 사진&#10;&#10;자동 생성된 설명">
              <a:extLst>
                <a:ext uri="{FF2B5EF4-FFF2-40B4-BE49-F238E27FC236}">
                  <a16:creationId xmlns:a16="http://schemas.microsoft.com/office/drawing/2014/main" id="{712A512E-6A32-5678-71A2-0776B33AE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300" y="1566113"/>
              <a:ext cx="256810" cy="2568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589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CF3BBC4-3BBF-7ED5-858A-539BFD4F6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957226"/>
              </p:ext>
            </p:extLst>
          </p:nvPr>
        </p:nvGraphicFramePr>
        <p:xfrm>
          <a:off x="1487488" y="1541684"/>
          <a:ext cx="9223937" cy="4803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3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5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5">
                  <a:txBody>
                    <a:bodyPr/>
                    <a:lstStyle>
                      <a:lvl1pPr marL="0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tabLst>
                          <a:tab pos="273050" algn="l"/>
                        </a:tabLst>
                        <a:defRPr/>
                      </a:pPr>
                      <a:r>
                        <a:rPr lang="en-US" altLang="ko-KR" sz="12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3. </a:t>
                      </a:r>
                      <a:r>
                        <a:rPr lang="ko-KR" altLang="en-US" sz="12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업무 수행 경력</a:t>
                      </a:r>
                    </a:p>
                  </a:txBody>
                  <a:tcPr marL="72000" marR="72000" marT="54000" marB="54000" anchor="ctr">
                    <a:lnL>
                      <a:noFill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52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8B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수행처</a:t>
                      </a:r>
                      <a:endParaRPr lang="ko-KR" altLang="en-US" sz="1100" b="0" kern="1200" spc="-5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72000" marR="72000" marT="54000" marB="54000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>
                      <a:lvl1pPr marL="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기간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>
                      <a:lvl1pPr marL="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프로젝트</a:t>
                      </a:r>
                      <a:r>
                        <a:rPr lang="en-US" altLang="ko-KR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수행업무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>
                      <a:lvl1pPr marL="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109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217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326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434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5543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2651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199760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6868" algn="l" defTabSz="914217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참여역할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spc="-5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비고</a:t>
                      </a:r>
                    </a:p>
                  </a:txBody>
                  <a:tcPr marL="72000" marR="72000" marT="54000" marB="540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우리은행</a:t>
                      </a: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2024.11 ~ 2025.03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우리은행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Open API ‘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이음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’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구축 프로젝트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아이티아이즈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2024.10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2024.11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GENAI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솔루션 구축 프로젝트</a:t>
                      </a:r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한글과컴퓨터</a:t>
                      </a: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2024.06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2024.12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한컴오피셜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리뉴얼 프로젝트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한국투자신탁운용</a:t>
                      </a: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2024.04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2024.08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한국투자신탁운용 </a:t>
                      </a: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마이폴리오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구축 프로젝트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하이바흐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2023.08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2023.12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하이바흐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홈페이지 구축 프로젝트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PL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포르셀까사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2023.03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2023.07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포르셀까사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홈페이지 구축 프로젝트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 Medium" panose="020B0600000101010101" pitchFamily="34" charset="-127"/>
                          <a:ea typeface="현대산스 Text OTF Medium" panose="020B0600000101010101" pitchFamily="34" charset="-127"/>
                          <a:cs typeface="+mn-cs"/>
                        </a:rPr>
                        <a:t>펠리에르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2022.11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~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2023.02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펠리에르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 홈페이지 구축 프로젝트</a:t>
                      </a: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현대산스 Text OTF" panose="020B0600000101010101" pitchFamily="34" charset="-127"/>
                          <a:ea typeface="현대산스 Text OTF" panose="020B0600000101010101" pitchFamily="34" charset="-127"/>
                          <a:cs typeface="+mn-cs"/>
                        </a:rPr>
                        <a:t>PA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712"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 Medium" panose="020B0600000101010101" pitchFamily="34" charset="-127"/>
                        <a:ea typeface="현대산스 Text OTF Medium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>
                      <a:noFill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67514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100687" marR="100687" marT="50343" marB="50343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000" b="0" i="0" u="none" strike="noStrike" kern="12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현대산스 Text OTF" panose="020B0600000101010101" pitchFamily="34" charset="-127"/>
                        <a:ea typeface="현대산스 Text OTF" panose="020B0600000101010101" pitchFamily="34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63C12BB-809A-8B2B-C995-A3E388D8D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5743CE-1743-4712-98FC-67DEBCFF6EF5}" type="slidenum">
              <a:rPr lang="en-US" altLang="ko-KR" smtClean="0"/>
              <a:pPr/>
              <a:t>2</a:t>
            </a:fld>
            <a:endParaRPr 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5AF180-BDEB-FEA0-58B8-1A5C023D0D52}"/>
              </a:ext>
            </a:extLst>
          </p:cNvPr>
          <p:cNvGrpSpPr/>
          <p:nvPr/>
        </p:nvGrpSpPr>
        <p:grpSpPr>
          <a:xfrm>
            <a:off x="1491300" y="1113269"/>
            <a:ext cx="9223938" cy="256810"/>
            <a:chOff x="348300" y="1566113"/>
            <a:chExt cx="9223938" cy="256810"/>
          </a:xfrm>
        </p:grpSpPr>
        <p:sp>
          <p:nvSpPr>
            <p:cNvPr id="21" name="모서리가 둥근 직사각형 67">
              <a:extLst>
                <a:ext uri="{FF2B5EF4-FFF2-40B4-BE49-F238E27FC236}">
                  <a16:creationId xmlns:a16="http://schemas.microsoft.com/office/drawing/2014/main" id="{9A8191DB-A413-3CB3-A00D-A4617FABF030}"/>
                </a:ext>
              </a:extLst>
            </p:cNvPr>
            <p:cNvSpPr/>
            <p:nvPr/>
          </p:nvSpPr>
          <p:spPr>
            <a:xfrm>
              <a:off x="348300" y="1568518"/>
              <a:ext cx="9223938" cy="252000"/>
            </a:xfrm>
            <a:prstGeom prst="roundRect">
              <a:avLst>
                <a:gd name="adj" fmla="val 50000"/>
              </a:avLst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7CC8CA-EB88-B1B6-A309-4DDB03810A8A}"/>
                </a:ext>
              </a:extLst>
            </p:cNvPr>
            <p:cNvSpPr txBox="1"/>
            <p:nvPr/>
          </p:nvSpPr>
          <p:spPr>
            <a:xfrm>
              <a:off x="679806" y="1602185"/>
              <a:ext cx="2766821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atinLnBrk="0">
                <a:spcAft>
                  <a:spcPts val="300"/>
                </a:spcAft>
              </a:pP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ROLE –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김유진 </a:t>
              </a: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현대산스 Text OTF Medium" panose="020B0600000101010101" pitchFamily="34" charset="-127"/>
                  <a:ea typeface="현대산스 Text OTF Medium" panose="020B0600000101010101" pitchFamily="34" charset="-127"/>
                </a:rPr>
                <a:t>(2/2)</a:t>
              </a:r>
            </a:p>
          </p:txBody>
        </p:sp>
        <p:pic>
          <p:nvPicPr>
            <p:cNvPr id="23" name="그림 22" descr="상징, 원, 그래픽, 로고이(가) 표시된 사진&#10;&#10;자동 생성된 설명">
              <a:extLst>
                <a:ext uri="{FF2B5EF4-FFF2-40B4-BE49-F238E27FC236}">
                  <a16:creationId xmlns:a16="http://schemas.microsoft.com/office/drawing/2014/main" id="{5D70B428-8C04-2908-E6D0-ACF22065E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8300" y="1566113"/>
              <a:ext cx="256810" cy="256810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E3B76C5-8C82-E808-730A-893F7BDAAF6D}"/>
              </a:ext>
            </a:extLst>
          </p:cNvPr>
          <p:cNvGrpSpPr/>
          <p:nvPr/>
        </p:nvGrpSpPr>
        <p:grpSpPr>
          <a:xfrm>
            <a:off x="1477466" y="412262"/>
            <a:ext cx="6131811" cy="478616"/>
            <a:chOff x="344488" y="928693"/>
            <a:chExt cx="6131811" cy="4786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74D746-9758-F762-B506-D5CC64F18F9B}"/>
                </a:ext>
              </a:extLst>
            </p:cNvPr>
            <p:cNvSpPr txBox="1"/>
            <p:nvPr/>
          </p:nvSpPr>
          <p:spPr bwMode="gray">
            <a:xfrm>
              <a:off x="344488" y="1161088"/>
              <a:ext cx="6059803" cy="246221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defTabSz="1043076" latinLnBrk="0">
                <a:defRPr/>
              </a:pPr>
              <a:r>
                <a:rPr lang="en-US" altLang="ko-KR" sz="1600" spc="-1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현대산스 Text OTF Bold" panose="020B0600000101010101" pitchFamily="34" charset="-127"/>
                  <a:ea typeface="현대산스 Text OTF Bold" panose="020B0600000101010101" pitchFamily="34" charset="-127"/>
                </a:rPr>
                <a:t>NCP</a:t>
              </a:r>
              <a:r>
                <a:rPr lang="ko-KR" altLang="en-US" sz="1600" spc="-10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현대산스 Text OTF Bold" panose="020B0600000101010101" pitchFamily="34" charset="-127"/>
                  <a:ea typeface="현대산스 Text OTF Bold" panose="020B0600000101010101" pitchFamily="34" charset="-127"/>
                </a:rPr>
                <a:t> 투입 인력 프로필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05D692-6B46-3CA8-0596-B038466B563D}"/>
                </a:ext>
              </a:extLst>
            </p:cNvPr>
            <p:cNvSpPr txBox="1"/>
            <p:nvPr/>
          </p:nvSpPr>
          <p:spPr bwMode="gray">
            <a:xfrm>
              <a:off x="344488" y="928693"/>
              <a:ext cx="6131811" cy="153888"/>
            </a:xfrm>
            <a:prstGeom prst="rect">
              <a:avLst/>
            </a:prstGeom>
          </p:spPr>
          <p:txBody>
            <a:bodyPr wrap="square" lIns="0" tIns="0" rIns="0" bIns="0" rtlCol="0" anchor="ctr">
              <a:spAutoFit/>
            </a:bodyPr>
            <a:lstStyle/>
            <a:p>
              <a:pPr defTabSz="1043076" latinLnBrk="0">
                <a:defRPr/>
              </a:pPr>
              <a:endParaRPr lang="ko-KR" altLang="en-US" sz="1000" spc="-1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현대산스 Text OTF" panose="020B0600000101010101" pitchFamily="34" charset="-127"/>
                <a:ea typeface="현대산스 Text OTF" panose="020B0600000101010101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689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200</Words>
  <Application>Microsoft Macintosh PowerPoint</Application>
  <PresentationFormat>와이드스크린</PresentationFormat>
  <Paragraphs>88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맑은 고딕</vt:lpstr>
      <vt:lpstr>현대산스 Text OTF</vt:lpstr>
      <vt:lpstr>현대산스 Text OTF Bold</vt:lpstr>
      <vt:lpstr>현대산스 Text OTF Medium</vt:lpstr>
      <vt:lpstr>Arial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장영진(유통사업팀)</dc:creator>
  <cp:lastModifiedBy>Microsoft Office User</cp:lastModifiedBy>
  <cp:revision>27</cp:revision>
  <dcterms:created xsi:type="dcterms:W3CDTF">2025-01-08T08:44:24Z</dcterms:created>
  <dcterms:modified xsi:type="dcterms:W3CDTF">2025-07-23T06:11:30Z</dcterms:modified>
</cp:coreProperties>
</file>